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5.png"/><Relationship Id="rId7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11" Type="http://schemas.openxmlformats.org/officeDocument/2006/relationships/image" Target="../media/image8.png"/><Relationship Id="rId10" Type="http://schemas.openxmlformats.org/officeDocument/2006/relationships/image" Target="../media/image6.png"/><Relationship Id="rId12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7.png"/><Relationship Id="rId13" Type="http://schemas.openxmlformats.org/officeDocument/2006/relationships/image" Target="../media/image36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44.png"/><Relationship Id="rId9" Type="http://schemas.openxmlformats.org/officeDocument/2006/relationships/image" Target="../media/image9.png"/><Relationship Id="rId14" Type="http://schemas.openxmlformats.org/officeDocument/2006/relationships/image" Target="../media/image40.png"/><Relationship Id="rId5" Type="http://schemas.openxmlformats.org/officeDocument/2006/relationships/image" Target="../media/image23.png"/><Relationship Id="rId6" Type="http://schemas.openxmlformats.org/officeDocument/2006/relationships/image" Target="../media/image28.png"/><Relationship Id="rId7" Type="http://schemas.openxmlformats.org/officeDocument/2006/relationships/image" Target="../media/image43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36.png"/><Relationship Id="rId5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36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43.png"/><Relationship Id="rId8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63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9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30.png"/><Relationship Id="rId5" Type="http://schemas.openxmlformats.org/officeDocument/2006/relationships/image" Target="../media/image8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0.png"/><Relationship Id="rId6" Type="http://schemas.openxmlformats.org/officeDocument/2006/relationships/image" Target="../media/image17.png"/><Relationship Id="rId7" Type="http://schemas.openxmlformats.org/officeDocument/2006/relationships/image" Target="../media/image5.png"/><Relationship Id="rId8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-274320" y="-36576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 amt="65000"/>
          </a:blip>
          <a:srcRect b="0" l="0" r="0" t="0"/>
          <a:stretch/>
        </p:blipFill>
        <p:spPr>
          <a:xfrm>
            <a:off x="7498080" y="3200400"/>
            <a:ext cx="2011680" cy="2011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5">
            <a:alphaModFix amt="40000"/>
          </a:blip>
          <a:srcRect b="0" l="0" r="0" t="0"/>
          <a:stretch/>
        </p:blipFill>
        <p:spPr>
          <a:xfrm>
            <a:off x="457200" y="45720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6400800" y="2286000"/>
            <a:ext cx="32004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2926080" y="457200"/>
            <a:ext cx="3291840" cy="365760"/>
          </a:xfrm>
          <a:prstGeom prst="roundRect">
            <a:avLst>
              <a:gd fmla="val 25000" name="adj"/>
            </a:avLst>
          </a:prstGeom>
          <a:solidFill>
            <a:srgbClr val="7C3AED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926080" y="4572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1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Internship Project | CSE461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5400"/>
              <a:buFont typeface="Trebuchet MS"/>
              <a:buNone/>
            </a:pPr>
            <a:r>
              <a:rPr b="1" i="0" lang="en-US" sz="5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SWARM-AI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Build a Multi-Agent Personal Assistant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2743200" y="2926080"/>
            <a:ext cx="3657600" cy="0"/>
          </a:xfrm>
          <a:prstGeom prst="straightConnector1">
            <a:avLst/>
          </a:prstGeom>
          <a:noFill/>
          <a:ln cap="flat" cmpd="sng" w="19050">
            <a:solidFill>
              <a:srgbClr val="00D4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" name="Google Shape;25;p3"/>
          <p:cNvSpPr/>
          <p:nvPr/>
        </p:nvSpPr>
        <p:spPr>
          <a:xfrm>
            <a:off x="914400" y="3200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Presented by Team SwarmAI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Lokesh (12216917)  |  Manit Chutani (12215575)  |  Nandu Penchala (12203167)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57200" y="44805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Lovely Professional University  |  B.Tech CSE (Data Science &amp; Data Engineering)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" name="Google Shape;2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4320" y="4526280"/>
            <a:ext cx="411480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-914400" y="274320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4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7772400" y="-27432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MEET THE TEAM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822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The minds behind SwarmAI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325880" y="1691640"/>
            <a:ext cx="914400" cy="914400"/>
          </a:xfrm>
          <a:prstGeom prst="ellipse">
            <a:avLst/>
          </a:prstGeom>
          <a:solidFill>
            <a:srgbClr val="00D4FF">
              <a:alpha val="20000"/>
            </a:srgbClr>
          </a:solidFill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1328" y="1847088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457200" y="27432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Lokesh</a:t>
            </a:r>
            <a:endParaRPr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" y="30632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Reg</a:t>
            </a:r>
            <a:r>
              <a:rPr lang="en-US" sz="900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 No</a:t>
            </a:r>
            <a:r>
              <a:rPr b="0" i="0" lang="en-US" sz="9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: 12216917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914400" y="3383280"/>
            <a:ext cx="1737360" cy="292608"/>
          </a:xfrm>
          <a:prstGeom prst="roundRect">
            <a:avLst>
              <a:gd fmla="val 25000" name="adj"/>
            </a:avLst>
          </a:prstGeom>
          <a:solidFill>
            <a:srgbClr val="00D4F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914400" y="33832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Team Lead &amp; Architect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94360" y="379476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design, n8n orchestration,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workflow development,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Telegram bot setup, 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hosting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291840" y="1463040"/>
            <a:ext cx="2651760" cy="32004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291840" y="146304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160520" y="1691640"/>
            <a:ext cx="914400" cy="914400"/>
          </a:xfrm>
          <a:prstGeom prst="ellipse">
            <a:avLst/>
          </a:prstGeom>
          <a:solidFill>
            <a:srgbClr val="7C3AED">
              <a:alpha val="20000"/>
            </a:srgbClr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5968" y="1847088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3291840" y="27432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Manit Chutani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291840" y="30632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Reg No : 12215575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749040" y="3383280"/>
            <a:ext cx="1737360" cy="292608"/>
          </a:xfrm>
          <a:prstGeom prst="roundRect">
            <a:avLst>
              <a:gd fmla="val 25000" name="adj"/>
            </a:avLst>
          </a:prstGeom>
          <a:solidFill>
            <a:srgbClr val="7C3AED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749040" y="33832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Agent Developer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429000" y="379476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Email &amp; 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Calendar </a:t>
            </a: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agent development,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API integration, testing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126480" y="1463040"/>
            <a:ext cx="2651760" cy="32004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126480" y="146304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995160" y="1691640"/>
            <a:ext cx="914400" cy="914400"/>
          </a:xfrm>
          <a:prstGeom prst="ellipse">
            <a:avLst/>
          </a:prstGeom>
          <a:solidFill>
            <a:srgbClr val="10B981">
              <a:alpha val="20000"/>
            </a:srgbClr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50608" y="1847088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6126480" y="27432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Nandu Penchala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126480" y="30632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Reg No: 12203167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583680" y="3383280"/>
            <a:ext cx="1737360" cy="292608"/>
          </a:xfrm>
          <a:prstGeom prst="roundRect">
            <a:avLst>
              <a:gd fmla="val 25000" name="adj"/>
            </a:avLst>
          </a:prstGeom>
          <a:solidFill>
            <a:srgbClr val="10B981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583680" y="33832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 Specialist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263640" y="3794760"/>
            <a:ext cx="2377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&amp; 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</a:t>
            </a: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agents, 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Serp API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5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-914400" y="-914400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5"/>
          <p:cNvPicPr preferRelativeResize="0"/>
          <p:nvPr/>
        </p:nvPicPr>
        <p:blipFill rotWithShape="1">
          <a:blip r:embed="rId4">
            <a:alphaModFix amt="55000"/>
          </a:blip>
          <a:srcRect b="0" l="0" r="0" t="0"/>
          <a:stretch/>
        </p:blipFill>
        <p:spPr>
          <a:xfrm>
            <a:off x="7315200" y="18288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48640" y="822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48640" y="141732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48640" y="141732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15270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1188720" y="141732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600200" y="14173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Overview &amp; Objectives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" y="219456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48640" y="219456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" y="230428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1188720" y="219456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600200" y="21945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Team Introduction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48640" y="297180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548640" y="297180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" y="30815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1188720" y="29718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600200" y="2971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48640" y="374904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48640" y="374904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1520" y="38587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1188720" y="374904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600200" y="37490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Specialized Agent Design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663440" y="141732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663440" y="141732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46320" y="15270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5303520" y="141732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715000" y="14173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Tech Stack &amp; Integrations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663440" y="219456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663440" y="219456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46320" y="230428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5303520" y="219456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715000" y="21945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Workflows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663440" y="297180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663440" y="297180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46320" y="30815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5303520" y="29718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715000" y="2971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 &amp; Solutions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663440" y="374904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663440" y="374904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46320" y="38587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5303520" y="374904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715000" y="37490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Key Learnings &amp; Future Scope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" name="Google Shape;119;p6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6400800" y="-457200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6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7589520" y="292608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OVERVIEW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1005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1051560" y="1005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SwarmAI?</a:t>
            </a:r>
            <a:endParaRPr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48640" y="1508760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SwarmAI is a multi-agent AI ecosystem where specialized agents collaborate to manage everyday tasks — emails, calendars, travel, and research.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i="0" lang="en-US" sz="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Built on n8n (visual workflow automation), it replaces monolithic bots with an intelligent swarm of agents that communicate, delegate, and combine their outputs seamlessly.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48640" y="3108960"/>
            <a:ext cx="1828800" cy="164592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48640" y="3108960"/>
            <a:ext cx="18288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48640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38862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Specialized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Agents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606040" y="3108960"/>
            <a:ext cx="1828800" cy="164592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2606040" y="3108960"/>
            <a:ext cx="1828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2606040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5+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606040" y="38862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Workflow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JSONs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663440" y="3108960"/>
            <a:ext cx="1828800" cy="164592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663440" y="310896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663440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663440" y="38862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Input Modes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(Text/Voice/Image)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720840" y="3108960"/>
            <a:ext cx="1828800" cy="164592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6720840" y="310896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720840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20+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720840" y="38862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API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2475" y="1333500"/>
            <a:ext cx="192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9700" y="3000375"/>
            <a:ext cx="6462600" cy="2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857250"/>
            <a:ext cx="77724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457200" y="1905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b="1" sz="3200">
              <a:solidFill>
                <a:srgbClr val="00D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B2540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57200" y="904875"/>
            <a:ext cx="822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USER INTERFACES</a:t>
            </a:r>
            <a:endParaRPr b="1" sz="10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047750" y="1238250"/>
            <a:ext cx="2000100" cy="476400"/>
          </a:xfrm>
          <a:prstGeom prst="rect">
            <a:avLst/>
          </a:prstGeom>
          <a:solidFill>
            <a:srgbClr val="1B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0625" y="1333500"/>
            <a:ext cx="2859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1524000" y="1238250"/>
            <a:ext cx="14289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Telegram Bot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571875" y="1238250"/>
            <a:ext cx="2000100" cy="476400"/>
          </a:xfrm>
          <a:prstGeom prst="rect">
            <a:avLst/>
          </a:prstGeom>
          <a:solidFill>
            <a:srgbClr val="1B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14750" y="1333500"/>
            <a:ext cx="2859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4048125" y="1238250"/>
            <a:ext cx="14289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Voice (Whisper)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096000" y="1238250"/>
            <a:ext cx="2000100" cy="476400"/>
          </a:xfrm>
          <a:prstGeom prst="rect">
            <a:avLst/>
          </a:prstGeom>
          <a:solidFill>
            <a:srgbClr val="1B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38875" y="1333500"/>
            <a:ext cx="2859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6572250" y="1238250"/>
            <a:ext cx="14289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Web UI (Gemini)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05000" y="2314575"/>
            <a:ext cx="514500" cy="5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2571750" y="2238375"/>
            <a:ext cx="4286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MASTER AGENT (Orchestrator)</a:t>
            </a:r>
            <a:endParaRPr b="1" sz="16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571750" y="2619375"/>
            <a:ext cx="4286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Route Tasks • Coordinate Agents • Manage Context &amp; Memory</a:t>
            </a:r>
            <a:endParaRPr b="0" sz="9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57200" y="3246120"/>
            <a:ext cx="1920300" cy="14289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57200" y="3246120"/>
            <a:ext cx="19203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88720" y="3383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457200" y="3857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EMAIL AGENT</a:t>
            </a:r>
            <a:endParaRPr b="1" sz="1100">
              <a:solidFill>
                <a:srgbClr val="F8717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57200" y="4238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Read • Send • Respond</a:t>
            </a:r>
            <a:endParaRPr b="0" sz="9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606040" y="3246120"/>
            <a:ext cx="1920300" cy="14289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606040" y="3246120"/>
            <a:ext cx="19203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337560" y="3383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2606040" y="3857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CALENDAR AGENT</a:t>
            </a:r>
            <a:endParaRPr b="1" sz="1100">
              <a:solidFill>
                <a:srgbClr val="60A5F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606040" y="4238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Events • Create • Update</a:t>
            </a:r>
            <a:endParaRPr b="0" sz="9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754880" y="3246120"/>
            <a:ext cx="1920300" cy="14289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754880" y="3246120"/>
            <a:ext cx="19203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486400" y="3383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4754880" y="3857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AGENT</a:t>
            </a:r>
            <a:endParaRPr b="1" sz="1100">
              <a:solidFill>
                <a:srgbClr val="10B98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754880" y="4238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• Gather • Summarize</a:t>
            </a:r>
            <a:endParaRPr b="0" sz="9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903720" y="3246120"/>
            <a:ext cx="1920300" cy="14289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6903720" y="3246120"/>
            <a:ext cx="19203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635240" y="3383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/>
          <p:nvPr/>
        </p:nvSpPr>
        <p:spPr>
          <a:xfrm>
            <a:off x="6903720" y="3857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AGENT</a:t>
            </a:r>
            <a:endParaRPr b="1" sz="1100">
              <a:solidFill>
                <a:srgbClr val="F59E0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903720" y="4238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Flights • Hotels • Compare</a:t>
            </a:r>
            <a:endParaRPr b="0" sz="9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52500" y="3333750"/>
            <a:ext cx="2857500" cy="285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0" name="Google Shape;1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-952500"/>
            <a:ext cx="3810000" cy="381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571500" y="285750"/>
            <a:ext cx="7620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SPECIALIZED AGENTS</a:t>
            </a:r>
            <a:endParaRPr b="1" sz="2960">
              <a:solidFill>
                <a:srgbClr val="00D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71500" y="762000"/>
            <a:ext cx="381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Email &amp; Calendar Agents</a:t>
            </a:r>
            <a:endParaRPr b="0" sz="14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76250" y="1238250"/>
            <a:ext cx="4000500" cy="36195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76250" y="1238250"/>
            <a:ext cx="4000500" cy="573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5240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1238250" y="15240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Email Agent</a:t>
            </a:r>
            <a:endParaRPr b="1" sz="2000">
              <a:solidFill>
                <a:srgbClr val="F8717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762000" y="2000250"/>
            <a:ext cx="3429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Model: GPT-4o | Service: Gmail API</a:t>
            </a:r>
            <a:endParaRPr b="0" sz="10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762000" y="2333625"/>
            <a:ext cx="34290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Send, read, reply, delete, and search emails automatically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Summarize unread messages with sender, subject &amp; timestamp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Confirm before mass deletes for safety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Output plain text summaries (Telegram-safe, ≤4096 chars)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ISO 8601 timestamps (IST +05:30)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667250" y="1238250"/>
            <a:ext cx="4000500" cy="36195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667250" y="1238250"/>
            <a:ext cx="4000500" cy="573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000" y="15240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5429250" y="15240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Calendar Agent</a:t>
            </a:r>
            <a:endParaRPr b="1" sz="2000">
              <a:solidFill>
                <a:srgbClr val="60A5F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953000" y="2000250"/>
            <a:ext cx="3429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Model: GPT-4o | Service: Google Calendar API</a:t>
            </a:r>
            <a:endParaRPr b="0" sz="10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953000" y="2333625"/>
            <a:ext cx="34290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Create, update, and delete calendar events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Check availability and list events by date range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Detect and resolve scheduling conflicts automatically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Parse title, start/end times, attendees, location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All timestamps in ISO 8601 (IST +05:30)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9"/>
          <p:cNvGrpSpPr/>
          <p:nvPr/>
        </p:nvGrpSpPr>
        <p:grpSpPr>
          <a:xfrm>
            <a:off x="-666750" y="-1238250"/>
            <a:ext cx="10953750" cy="7143750"/>
            <a:chOff x="-666750" y="-1238250"/>
            <a:chExt cx="10953750" cy="7143750"/>
          </a:xfrm>
        </p:grpSpPr>
        <p:sp>
          <p:nvSpPr>
            <p:cNvPr id="211" name="Google Shape;211;p9"/>
            <p:cNvSpPr/>
            <p:nvPr/>
          </p:nvSpPr>
          <p:spPr>
            <a:xfrm>
              <a:off x="6858000" y="-1238250"/>
              <a:ext cx="3429000" cy="3429000"/>
            </a:xfrm>
            <a:prstGeom prst="ellipse">
              <a:avLst/>
            </a:prstGeom>
            <a:solidFill>
              <a:srgbClr val="00D4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-666750" y="3619500"/>
              <a:ext cx="2286000" cy="2286000"/>
            </a:xfrm>
            <a:prstGeom prst="ellipse">
              <a:avLst/>
            </a:prstGeom>
            <a:solidFill>
              <a:srgbClr val="10B981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9"/>
          <p:cNvSpPr/>
          <p:nvPr/>
        </p:nvSpPr>
        <p:spPr>
          <a:xfrm>
            <a:off x="571500" y="28575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SPECIALIZED AGENTS</a:t>
            </a:r>
            <a:endParaRPr b="1" i="0" sz="3200">
              <a:solidFill>
                <a:srgbClr val="00D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71500" y="809625"/>
            <a:ext cx="381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&amp; Travel Agents</a:t>
            </a:r>
            <a:endParaRPr b="0" i="0" sz="14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76250" y="1333500"/>
            <a:ext cx="4000500" cy="3429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76250" y="1333500"/>
            <a:ext cx="4000500" cy="57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192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1238250" y="16192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Agent</a:t>
            </a:r>
            <a:endParaRPr b="1" i="0" sz="2000">
              <a:solidFill>
                <a:srgbClr val="10B98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762000" y="20478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Model: Google Gemini | Tavily + Wikipedia</a:t>
            </a:r>
            <a:endParaRPr b="0" i="0" sz="95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762000" y="2381250"/>
            <a:ext cx="3429000" cy="219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Wikipedia for structured facts, definitions, static data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Tavily Search for trending topics and recent updates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Combined mode for hybrid queries (background + recency)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Summarizes clearly in 3-6 lines maximum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No URLs or Markdown in output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667250" y="1333500"/>
            <a:ext cx="4000500" cy="3429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667250" y="1333500"/>
            <a:ext cx="40005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000" y="16192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5429250" y="16192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Agent</a:t>
            </a:r>
            <a:endParaRPr b="1" i="0" sz="2000">
              <a:solidFill>
                <a:srgbClr val="F59E0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953000" y="20478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Model: GPT-4o | Service: Serp API</a:t>
            </a:r>
            <a:endParaRPr b="0" i="0" sz="95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953000" y="2381250"/>
            <a:ext cx="3429000" cy="219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flights by departure, arrival, dates, class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hotels by location, dates, rating, and class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Returns 3-5 top options with pricing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Suggests alternative routes if no results found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Defaults: one-way, 1 adult, economy, 4★+ hotels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2" name="Google Shape;232;p10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7498080" y="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10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-914400" y="-9144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/>
          <p:nvPr/>
        </p:nvSpPr>
        <p:spPr>
          <a:xfrm>
            <a:off x="548640" y="18288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COMPOUND ROUTING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Multi-agent task chaining in action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7C3AED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548640" y="10515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User Query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303520" y="10515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Routing Order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57200" y="1508760"/>
            <a:ext cx="8229600" cy="393192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640080" y="1508760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"Send email to HR about leave"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5303520" y="1508760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Email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57200" y="1938528"/>
            <a:ext cx="8229600" cy="393192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640080" y="1938528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"Schedule meeting tomorrow 3 PM"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303520" y="1938528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Calendar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57200" y="2368296"/>
            <a:ext cx="8229600" cy="393192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640080" y="2368296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"Find flights Delhi to Mumbai"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5303520" y="2368296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Travel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57200" y="2798064"/>
            <a:ext cx="8229600" cy="393192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640080" y="2798064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"Research latest AI updates"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303520" y="2798064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57200" y="3227832"/>
            <a:ext cx="8229600" cy="393192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640080" y="3227832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"Book flight + add to calendar"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5303520" y="3227832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→ Calendar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57200" y="3657600"/>
            <a:ext cx="8229600" cy="393192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640080" y="3657600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"Find hotels &amp; email top options"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303520" y="3657600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→ Email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57200" y="4087368"/>
            <a:ext cx="8229600" cy="393192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40080" y="4087368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"Book flight, add calendar, email itinerary"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303520" y="4087368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B923C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→ Calendar → Email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57200" y="4517136"/>
            <a:ext cx="8229600" cy="393192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640080" y="4517136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"Research AI news &amp; email summary"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303520" y="4517136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→ Email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8" name="Google Shape;268;p11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-457200" y="320040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11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7315200" y="-4572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/>
          <p:nvPr/>
        </p:nvSpPr>
        <p:spPr>
          <a:xfrm>
            <a:off x="548640" y="18288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TECH STACK &amp; TOOLS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57200" y="1005840"/>
            <a:ext cx="26517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457200" y="1005840"/>
            <a:ext cx="54864" cy="1691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11430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1"/>
          <p:cNvSpPr/>
          <p:nvPr/>
        </p:nvSpPr>
        <p:spPr>
          <a:xfrm>
            <a:off x="1143000" y="1097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Orchestration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143000" y="13258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n8n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40080" y="17830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Visual workflow automation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No-code + code nodes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3337560" y="1005840"/>
            <a:ext cx="26517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3337560" y="1005840"/>
            <a:ext cx="54864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0440" y="11430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1"/>
          <p:cNvSpPr/>
          <p:nvPr/>
        </p:nvSpPr>
        <p:spPr>
          <a:xfrm>
            <a:off x="4023360" y="1097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AI Models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023360" y="13258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GPT-4o &amp; Gemini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520440" y="17830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LLM backbone for all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agent reasoning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6217920" y="1005840"/>
            <a:ext cx="26517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6217920" y="1005840"/>
            <a:ext cx="54864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5" name="Google Shape;28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0" y="11430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1"/>
          <p:cNvSpPr/>
          <p:nvPr/>
        </p:nvSpPr>
        <p:spPr>
          <a:xfrm>
            <a:off x="6940295" y="112014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Interfaces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6903720" y="13258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Telegram + Voice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6400800" y="17830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Multi-modal I/O via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webhooks &amp; Whisper/TTS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57200" y="2926080"/>
            <a:ext cx="26517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57200" y="2926080"/>
            <a:ext cx="54864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080" y="3063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1"/>
          <p:cNvSpPr/>
          <p:nvPr/>
        </p:nvSpPr>
        <p:spPr>
          <a:xfrm>
            <a:off x="1143000" y="3017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Integrations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143000" y="3246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Gmail, GCal, </a:t>
            </a:r>
            <a:r>
              <a:rPr b="1" lang="en-US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Serp API</a:t>
            </a:r>
            <a:endParaRPr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40080" y="370332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OAuth2 APIs for real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service connectivity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3337560" y="2926080"/>
            <a:ext cx="26517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3337560" y="2926080"/>
            <a:ext cx="54864" cy="16916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7" name="Google Shape;297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20440" y="3063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1"/>
          <p:cNvSpPr/>
          <p:nvPr/>
        </p:nvSpPr>
        <p:spPr>
          <a:xfrm>
            <a:off x="4023360" y="3017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Tools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023360" y="3246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Tavily + Wikipedia</a:t>
            </a:r>
            <a:endParaRPr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3520440" y="370332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Live web search and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structured knowledge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6217920" y="2926080"/>
            <a:ext cx="26517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217920" y="2926080"/>
            <a:ext cx="54864" cy="16916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00800" y="3063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1"/>
          <p:cNvSpPr/>
          <p:nvPr/>
        </p:nvSpPr>
        <p:spPr>
          <a:xfrm>
            <a:off x="6903720" y="3017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Dev Tools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6903720" y="3246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Docker</a:t>
            </a:r>
            <a:endParaRPr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6400800" y="370332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Containerization and </a:t>
            </a:r>
            <a:r>
              <a:rPr lang="en-US" sz="1000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local hosting</a:t>
            </a:r>
            <a:endParaRPr i="0" sz="1000" u="none" cap="none" strike="noStrike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2" name="Google Shape;312;p12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-914400" y="1828800"/>
            <a:ext cx="32004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WORKFLOW &amp; DATA 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914400" y="1078992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914400" y="10789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1554480" y="100584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User sends message via Telegram (text, voice, or image)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96012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731520" y="1783080"/>
            <a:ext cx="7680960" cy="5943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914400" y="185623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914400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1554480" y="178308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Main Routing Agent detects intent and selects sub-agent(s)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960120" y="2286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731520" y="2560320"/>
            <a:ext cx="7680960" cy="5943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914400" y="263347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914400" y="2633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1554480" y="256032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Sub-Agent(s) execute their specialized workflow logic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960120" y="30632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731520" y="3337560"/>
            <a:ext cx="7680960" cy="5943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914400" y="341071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914400" y="34107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554480" y="333756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 are merged, simplified, and formatted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960120" y="38404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914400" y="4187952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914400" y="41879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554480" y="411480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Telegram Bot sends clean final message back to user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3" name="Google Shape;343;p13"/>
          <p:cNvPicPr preferRelativeResize="0"/>
          <p:nvPr/>
        </p:nvPicPr>
        <p:blipFill rotWithShape="1">
          <a:blip r:embed="rId3">
            <a:alphaModFix amt="55000"/>
          </a:blip>
          <a:srcRect b="0" l="0" r="0" t="0"/>
          <a:stretch/>
        </p:blipFill>
        <p:spPr>
          <a:xfrm>
            <a:off x="7498080" y="292608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4" name="Google Shape;344;p13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-914400" y="27432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3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 &amp; SOLUTIONS</a:t>
            </a:r>
            <a:endParaRPr i="0" sz="3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987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3"/>
          <p:cNvSpPr/>
          <p:nvPr/>
        </p:nvSpPr>
        <p:spPr>
          <a:xfrm>
            <a:off x="1051560" y="91440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OAuth2 Authentication with Google APIs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preencoded.png" id="349" name="Google Shape;34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87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3"/>
          <p:cNvSpPr/>
          <p:nvPr/>
        </p:nvSpPr>
        <p:spPr>
          <a:xfrm>
            <a:off x="5074920" y="91440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Configured proper credential flow in n8n with refresh tokens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457200" y="1719072"/>
            <a:ext cx="8229600" cy="6858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2" name="Google Shape;35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179222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3"/>
          <p:cNvSpPr/>
          <p:nvPr/>
        </p:nvSpPr>
        <p:spPr>
          <a:xfrm>
            <a:off x="1051560" y="1719072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Agent-to-Agent Communication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preencoded.png" id="354" name="Google Shape;35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79222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3"/>
          <p:cNvSpPr/>
          <p:nvPr/>
        </p:nvSpPr>
        <p:spPr>
          <a:xfrm>
            <a:off x="5074920" y="1719072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Used n8n sub-workflow triggers for clean data passing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59689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3"/>
          <p:cNvSpPr/>
          <p:nvPr/>
        </p:nvSpPr>
        <p:spPr>
          <a:xfrm>
            <a:off x="1051560" y="2523744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Handling Compound Multi-Agent Queries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preencoded.png" id="359" name="Google Shape;35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259689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3"/>
          <p:cNvSpPr/>
          <p:nvPr/>
        </p:nvSpPr>
        <p:spPr>
          <a:xfrm>
            <a:off x="5074920" y="2523744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Sequential chaining with logical routing order in Master Agent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457200" y="3328416"/>
            <a:ext cx="8229600" cy="6858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2" name="Google Shape;36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4015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/>
          <p:nvPr/>
        </p:nvSpPr>
        <p:spPr>
          <a:xfrm>
            <a:off x="1051560" y="3328416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Telegram Message Formatting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preencoded.png" id="364" name="Google Shape;36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34015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3"/>
          <p:cNvSpPr/>
          <p:nvPr/>
        </p:nvSpPr>
        <p:spPr>
          <a:xfrm>
            <a:off x="5074920" y="3328416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Sanitized all outputs to plain text (no Markdown/HTML), ≤4096 chars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457200" y="4133088"/>
            <a:ext cx="8229600" cy="6858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42062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3"/>
          <p:cNvSpPr/>
          <p:nvPr/>
        </p:nvSpPr>
        <p:spPr>
          <a:xfrm>
            <a:off x="1051560" y="4133088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Voice Input Processing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preencoded.png" id="369" name="Google Shape;36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42062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3"/>
          <p:cNvSpPr/>
          <p:nvPr/>
        </p:nvSpPr>
        <p:spPr>
          <a:xfrm>
            <a:off x="5074920" y="4133088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Integrated OpenAI Whisper for STT and TTS for speech output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6" name="Google Shape;376;p14"/>
          <p:cNvPicPr preferRelativeResize="0"/>
          <p:nvPr/>
        </p:nvPicPr>
        <p:blipFill rotWithShape="1">
          <a:blip r:embed="rId3">
            <a:alphaModFix amt="55000"/>
          </a:blip>
          <a:srcRect b="0" l="0" r="0" t="0"/>
          <a:stretch/>
        </p:blipFill>
        <p:spPr>
          <a:xfrm>
            <a:off x="7589520" y="-18288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7" name="Google Shape;377;p14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-914400" y="9144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4"/>
          <p:cNvSpPr/>
          <p:nvPr/>
        </p:nvSpPr>
        <p:spPr>
          <a:xfrm>
            <a:off x="548640" y="18288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KEY LEARNINGS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457200" y="914400"/>
            <a:ext cx="4023360" cy="1143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457200" y="914400"/>
            <a:ext cx="54864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1" name="Google Shape;38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10515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4"/>
          <p:cNvSpPr/>
          <p:nvPr/>
        </p:nvSpPr>
        <p:spPr>
          <a:xfrm>
            <a:off x="1143000" y="10058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n8n Mastery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1143000" y="137160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Proficiency in visual workflow automation — building complex AI systems 10x faster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4754880" y="914400"/>
            <a:ext cx="4023360" cy="1143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4754880" y="914400"/>
            <a:ext cx="54864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6" name="Google Shape;38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10515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4"/>
          <p:cNvSpPr/>
          <p:nvPr/>
        </p:nvSpPr>
        <p:spPr>
          <a:xfrm>
            <a:off x="5440680" y="10058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Multi-Agent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5440680" y="137160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Splitting tasks across specialized LLMs with role-based prompting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457200" y="2240280"/>
            <a:ext cx="4023360" cy="1143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457200" y="2240280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1" name="Google Shape;39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2377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4"/>
          <p:cNvSpPr/>
          <p:nvPr/>
        </p:nvSpPr>
        <p:spPr>
          <a:xfrm>
            <a:off x="1143000" y="23317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API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1143000" y="269748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Hands-on with OAuth2, Gmail, Google Calendar, 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Serp API</a:t>
            </a: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, Tavily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4754880" y="2240280"/>
            <a:ext cx="4023360" cy="1143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4754880" y="2240280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6" name="Google Shape;39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37760" y="2377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4"/>
          <p:cNvSpPr/>
          <p:nvPr/>
        </p:nvSpPr>
        <p:spPr>
          <a:xfrm>
            <a:off x="5440680" y="23317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Webhook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5440680" y="269748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Event-driven design connecting Telegram to n8n backend in real-time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457200" y="3566160"/>
            <a:ext cx="4023360" cy="1143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457200" y="3566160"/>
            <a:ext cx="54864" cy="1143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1" name="Google Shape;40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080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4"/>
          <p:cNvSpPr/>
          <p:nvPr/>
        </p:nvSpPr>
        <p:spPr>
          <a:xfrm>
            <a:off x="1143000" y="36576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Hybrid Engineering</a:t>
            </a:r>
            <a:endParaRPr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1143000" y="402336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Blending no-code nodes with custom JavaScript/Python for flexibility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4754880" y="3566160"/>
            <a:ext cx="4023360" cy="1143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4754880" y="3566160"/>
            <a:ext cx="54864" cy="1143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6" name="Google Shape;4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37760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4"/>
          <p:cNvSpPr/>
          <p:nvPr/>
        </p:nvSpPr>
        <p:spPr>
          <a:xfrm>
            <a:off x="5440680" y="36576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Multimodal Interfaces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5440680" y="402336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Building accessible interfaces: text, voice, and image input support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4" name="Google Shape;414;p15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6400800" y="2743200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5" name="Google Shape;415;p15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-274320" y="-18288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5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USE CASES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457200" y="914400"/>
            <a:ext cx="40233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457200" y="914400"/>
            <a:ext cx="4023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9" name="Google Shape;4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1097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5"/>
          <p:cNvSpPr/>
          <p:nvPr/>
        </p:nvSpPr>
        <p:spPr>
          <a:xfrm>
            <a:off x="1051560" y="10515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Corporate Executive Assistant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640080" y="155448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Auto-manage emails, schedule meetings, and research market trends — all via a single Telegram command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4754880" y="914400"/>
            <a:ext cx="40233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4754880" y="914400"/>
            <a:ext cx="40233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4" name="Google Shape;4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2040" y="1097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5"/>
          <p:cNvSpPr/>
          <p:nvPr/>
        </p:nvSpPr>
        <p:spPr>
          <a:xfrm>
            <a:off x="5349240" y="10515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Coordinator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4937760" y="155448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flights &amp; hotels, add to calendar, and email itinerary to stakeholders in one query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457200" y="2834640"/>
            <a:ext cx="40233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457200" y="2834640"/>
            <a:ext cx="40233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3017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5"/>
          <p:cNvSpPr/>
          <p:nvPr/>
        </p:nvSpPr>
        <p:spPr>
          <a:xfrm>
            <a:off x="1051560" y="29718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 Productivity Bot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640080" y="347472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topics, schedule study sessions, email summaries to study groups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4754880" y="2834640"/>
            <a:ext cx="40233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4" name="Google Shape;43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2040" y="3017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5"/>
          <p:cNvSpPr/>
          <p:nvPr/>
        </p:nvSpPr>
        <p:spPr>
          <a:xfrm>
            <a:off x="5349240" y="29718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Startup Operations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4937760" y="347472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Automate internal communication, scheduling, and competitive research with minimal overhead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2" name="Google Shape;442;p1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315200" y="0"/>
            <a:ext cx="2011680" cy="2011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3" name="Google Shape;443;p16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-914400" y="18288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6"/>
          <p:cNvSpPr/>
          <p:nvPr/>
        </p:nvSpPr>
        <p:spPr>
          <a:xfrm>
            <a:off x="548640" y="18288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SCOPE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Where SwarmAI goes next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457200" y="1051560"/>
            <a:ext cx="4023360" cy="10515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457200" y="1051560"/>
            <a:ext cx="54864" cy="1051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8" name="Google Shape;4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6"/>
          <p:cNvSpPr/>
          <p:nvPr/>
        </p:nvSpPr>
        <p:spPr>
          <a:xfrm>
            <a:off x="1051560" y="11247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WhatsApp &amp; Slack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1051560" y="15087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Expand beyond Telegram to enterprise channels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4754880" y="1051560"/>
            <a:ext cx="4023360" cy="10515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4754880" y="1051560"/>
            <a:ext cx="54864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3" name="Google Shape;45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6"/>
          <p:cNvSpPr/>
          <p:nvPr/>
        </p:nvSpPr>
        <p:spPr>
          <a:xfrm>
            <a:off x="5349240" y="11247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Persistent Memory &amp;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5349240" y="15087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Long-term conversation memory across sessions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6"/>
          <p:cNvSpPr/>
          <p:nvPr/>
        </p:nvSpPr>
        <p:spPr>
          <a:xfrm>
            <a:off x="457200" y="228600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8" name="Google Shape;45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423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6"/>
          <p:cNvSpPr/>
          <p:nvPr/>
        </p:nvSpPr>
        <p:spPr>
          <a:xfrm>
            <a:off x="1051560" y="23591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Payment &amp; Booking 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1051560" y="27432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Add real booking and payment processing capabilities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4754880" y="2286000"/>
            <a:ext cx="4023360" cy="10515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6"/>
          <p:cNvSpPr/>
          <p:nvPr/>
        </p:nvSpPr>
        <p:spPr>
          <a:xfrm>
            <a:off x="4754880" y="228600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3" name="Google Shape;46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2423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6"/>
          <p:cNvSpPr/>
          <p:nvPr/>
        </p:nvSpPr>
        <p:spPr>
          <a:xfrm>
            <a:off x="5349240" y="23591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Multi-Language Support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5349240" y="27432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Hindi, regional languages for wider accessibility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457200" y="3520440"/>
            <a:ext cx="4023360" cy="10515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457200" y="3520440"/>
            <a:ext cx="54864" cy="10515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8" name="Google Shape;46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6576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6"/>
          <p:cNvSpPr/>
          <p:nvPr/>
        </p:nvSpPr>
        <p:spPr>
          <a:xfrm>
            <a:off x="1051560" y="35935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Custom Fine-Tuned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1051560" y="39776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Domain-specific models for specialized tasks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4754880" y="3520440"/>
            <a:ext cx="4023360" cy="10515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4754880" y="3520440"/>
            <a:ext cx="54864" cy="10515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3" name="Google Shape;47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36576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6"/>
          <p:cNvSpPr/>
          <p:nvPr/>
        </p:nvSpPr>
        <p:spPr>
          <a:xfrm>
            <a:off x="5349240" y="35935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Analytics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5349240" y="39776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Track usage, performance, and agent efficiency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1" name="Google Shape;481;p17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-457200" y="-27432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2" name="Google Shape;482;p17"/>
          <p:cNvPicPr preferRelativeResize="0"/>
          <p:nvPr/>
        </p:nvPicPr>
        <p:blipFill rotWithShape="1">
          <a:blip r:embed="rId4">
            <a:alphaModFix amt="65000"/>
          </a:blip>
          <a:srcRect b="0" l="0" r="0" t="0"/>
          <a:stretch/>
        </p:blipFill>
        <p:spPr>
          <a:xfrm>
            <a:off x="7315200" y="274320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3" name="Google Shape;483;p17"/>
          <p:cNvPicPr preferRelativeResize="0"/>
          <p:nvPr/>
        </p:nvPicPr>
        <p:blipFill rotWithShape="1">
          <a:blip r:embed="rId5">
            <a:alphaModFix amt="55000"/>
          </a:blip>
          <a:srcRect b="0" l="0" r="0" t="0"/>
          <a:stretch/>
        </p:blipFill>
        <p:spPr>
          <a:xfrm>
            <a:off x="7772400" y="-274320"/>
            <a:ext cx="164592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4" name="Google Shape;484;p17"/>
          <p:cNvPicPr preferRelativeResize="0"/>
          <p:nvPr/>
        </p:nvPicPr>
        <p:blipFill rotWithShape="1">
          <a:blip r:embed="rId6">
            <a:alphaModFix amt="25000"/>
          </a:blip>
          <a:srcRect b="0" l="0" r="0" t="0"/>
          <a:stretch/>
        </p:blipFill>
        <p:spPr>
          <a:xfrm>
            <a:off x="1828800" y="457200"/>
            <a:ext cx="54864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5" name="Google Shape;485;p17"/>
          <p:cNvPicPr preferRelativeResize="0"/>
          <p:nvPr/>
        </p:nvPicPr>
        <p:blipFill rotWithShape="1">
          <a:blip r:embed="rId7">
            <a:alphaModFix amt="25000"/>
          </a:blip>
          <a:srcRect b="0" l="0" r="0" t="0"/>
          <a:stretch/>
        </p:blipFill>
        <p:spPr>
          <a:xfrm>
            <a:off x="3657600" y="914400"/>
            <a:ext cx="4572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6" name="Google Shape;48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60520" y="54864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7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Feedback Welcome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17"/>
          <p:cNvCxnSpPr/>
          <p:nvPr/>
        </p:nvCxnSpPr>
        <p:spPr>
          <a:xfrm>
            <a:off x="2743200" y="2926080"/>
            <a:ext cx="3657600" cy="0"/>
          </a:xfrm>
          <a:prstGeom prst="straightConnector1">
            <a:avLst/>
          </a:prstGeom>
          <a:noFill/>
          <a:ln cap="flat" cmpd="sng" w="12700">
            <a:solidFill>
              <a:srgbClr val="00D4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90" name="Google Shape;490;p17"/>
          <p:cNvSpPr/>
          <p:nvPr/>
        </p:nvSpPr>
        <p:spPr>
          <a:xfrm>
            <a:off x="914400" y="3108960"/>
            <a:ext cx="7315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Team SwarmAI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Lokesh (12216917) | Manit Chutani (12215575) | Nandu Penchala (12203167)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B.Tech CSE (Data Science &amp; Data Engineering)  |  Lovely Professional University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Course: CSE461 — Internship Project  |  Instructor: Ma</a:t>
            </a:r>
            <a:r>
              <a:rPr lang="en-US" sz="1000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dhav Dubey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