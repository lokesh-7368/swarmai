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11" Type="http://schemas.openxmlformats.org/officeDocument/2006/relationships/image" Target="../media/image7.png"/><Relationship Id="rId10" Type="http://schemas.openxmlformats.org/officeDocument/2006/relationships/image" Target="../media/image47.png"/><Relationship Id="rId12" Type="http://schemas.openxmlformats.org/officeDocument/2006/relationships/image" Target="../media/image13.png"/><Relationship Id="rId9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4.png"/><Relationship Id="rId13" Type="http://schemas.openxmlformats.org/officeDocument/2006/relationships/image" Target="../media/image3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4.png"/><Relationship Id="rId4" Type="http://schemas.openxmlformats.org/officeDocument/2006/relationships/image" Target="../media/image24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16.png"/><Relationship Id="rId8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4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3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47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7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74320" y="-36576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 amt="65000"/>
          </a:blip>
          <a:srcRect b="0" l="0" r="0" t="0"/>
          <a:stretch/>
        </p:blipFill>
        <p:spPr>
          <a:xfrm>
            <a:off x="7498080" y="320040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 amt="40000"/>
          </a:blip>
          <a:srcRect b="0" l="0" r="0" t="0"/>
          <a:stretch/>
        </p:blipFill>
        <p:spPr>
          <a:xfrm>
            <a:off x="457200" y="4572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6400800" y="228600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2926080" y="457200"/>
            <a:ext cx="3291840" cy="365760"/>
          </a:xfrm>
          <a:prstGeom prst="roundRect">
            <a:avLst>
              <a:gd fmla="val 25000" name="adj"/>
            </a:avLst>
          </a:prstGeom>
          <a:solidFill>
            <a:srgbClr val="7C3AED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926080" y="4572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Internship Project | CSE461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SWARM-AI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Build a Multi-Agent Personal Assistant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2743200" y="2926080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3200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Presented by Team SwarmAI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Lokesh (12216917)  |  Manit Chutani (12215575)  |  Nandu Penchala (12203167)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Lovely Professional University  |  B.Tech CSE (Data Science &amp; Data Engineering)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27432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772400" y="-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MEET THE TEAM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The minds behind SwarmAI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325880" y="1691640"/>
            <a:ext cx="914400" cy="914400"/>
          </a:xfrm>
          <a:prstGeom prst="ellipse">
            <a:avLst/>
          </a:prstGeom>
          <a:solidFill>
            <a:srgbClr val="00D4FF">
              <a:alpha val="20000"/>
            </a:srgbClr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32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5720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Lokesh</a:t>
            </a:r>
            <a:endParaRPr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</a:t>
            </a:r>
            <a:r>
              <a:rPr lang="en-US" sz="900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 No</a:t>
            </a: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: 12216917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1440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00D4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91440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&amp; Architect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4360" y="37947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design, n8n orchestration,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development,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 setup,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hosting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60520" y="1691640"/>
            <a:ext cx="914400" cy="914400"/>
          </a:xfrm>
          <a:prstGeom prst="ellipse">
            <a:avLst/>
          </a:prstGeom>
          <a:solidFill>
            <a:srgbClr val="7C3AED">
              <a:alpha val="20000"/>
            </a:srgbClr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329184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Manit Chutani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9184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 No : 12215575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74904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7C3AED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74904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Agent Developer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Email &amp;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development,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API integration, testing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995160" y="169164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0608" y="18470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126480" y="2743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Nandu Penchala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126480" y="30632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Reg No: 12203167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583680" y="3383280"/>
            <a:ext cx="1737360" cy="292608"/>
          </a:xfrm>
          <a:prstGeom prst="roundRect">
            <a:avLst>
              <a:gd fmla="val 25000" name="adj"/>
            </a:avLst>
          </a:prstGeom>
          <a:solidFill>
            <a:srgbClr val="10B981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583680" y="3383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Specialist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63640" y="3794760"/>
            <a:ext cx="2377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&amp;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agents,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9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-9144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5"/>
          <p:cNvPicPr preferRelativeResize="0"/>
          <p:nvPr/>
        </p:nvPicPr>
        <p:blipFill rotWithShape="1">
          <a:blip r:embed="rId4">
            <a:alphaModFix amt="55000"/>
          </a:blip>
          <a:srcRect b="0" l="0" r="0" t="0"/>
          <a:stretch/>
        </p:blipFill>
        <p:spPr>
          <a:xfrm>
            <a:off x="7315200" y="1828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141732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15270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188720" y="14173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60020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 &amp; Objectives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219456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48640" y="21945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23042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188720" y="21945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600200" y="2194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Introduction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297180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48640" y="297180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30815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188720" y="29718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60020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374904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374904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520" y="3858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188720" y="37490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60020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 Design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63440" y="141732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663440" y="14173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46320" y="15270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5303520" y="141732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71500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 &amp; Integrations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663440" y="219456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663440" y="21945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46320" y="23042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5303520" y="21945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715000" y="2194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663440" y="297180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663440" y="297180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6320" y="30815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303520" y="29718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715000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Solutions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663440" y="3749040"/>
            <a:ext cx="3840480" cy="64008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663440" y="374904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6320" y="3858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5303520" y="37490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71500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Key Learnings &amp; Future Scope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6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6400800" y="-457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6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7589520" y="29260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1005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05156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SwarmAI?</a:t>
            </a:r>
            <a:endParaRPr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8640" y="150876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SwarmAI is a multi-agent AI ecosystem where specialized agents collaborate to manage everyday tasks — emails, calendars, travel, and research.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i="0" lang="en-US" sz="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Built on n8n (visual workflow automation), it replaces monolithic bots with an intelligent swarm of agents that communicate, delegate, and combine their outputs seamlessly.</a:t>
            </a:r>
            <a:endParaRPr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48640" y="3108960"/>
            <a:ext cx="1828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486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6060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606040" y="3108960"/>
            <a:ext cx="1828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6060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5+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6060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JSONs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634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663440" y="310896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6634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634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Input Modes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(Text/Voice/Image)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720840" y="3108960"/>
            <a:ext cx="1828800" cy="164592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720840" y="31089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720840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20+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720840" y="3886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API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1333500"/>
            <a:ext cx="192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3000375"/>
            <a:ext cx="64626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857250"/>
            <a:ext cx="7772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57200" y="190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1" sz="320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B2540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904875"/>
            <a:ext cx="822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USER INTERFACES</a:t>
            </a:r>
            <a:endParaRPr b="1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47750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0625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1524000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571875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4750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4048125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Voice (Whisper)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096000" y="1238250"/>
            <a:ext cx="2000100" cy="476400"/>
          </a:xfrm>
          <a:prstGeom prst="rect">
            <a:avLst/>
          </a:prstGeom>
          <a:solidFill>
            <a:srgbClr val="1B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1333500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6572250" y="123825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Web UI (Gemini)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000" y="2314575"/>
            <a:ext cx="514500" cy="5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2571750" y="2238375"/>
            <a:ext cx="428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MASTER AGENT (Orchestrator)</a:t>
            </a:r>
            <a:endParaRPr b="1" sz="16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571750" y="2619375"/>
            <a:ext cx="4286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Route Tasks • Coordinate Agents • Manage Context &amp; Memory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3246120"/>
            <a:ext cx="19203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872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45720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AGENT</a:t>
            </a:r>
            <a:endParaRPr b="1" sz="1100">
              <a:solidFill>
                <a:srgbClr val="F8717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5720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Read • Send • Respond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60604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06040" y="3246120"/>
            <a:ext cx="19203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3756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260604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AGENT</a:t>
            </a:r>
            <a:endParaRPr b="1" sz="1100">
              <a:solidFill>
                <a:srgbClr val="60A5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0604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Events • Create • Update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75488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754880" y="3246120"/>
            <a:ext cx="19203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8640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475488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AGENT</a:t>
            </a:r>
            <a:endParaRPr b="1" sz="1100">
              <a:solidFill>
                <a:srgbClr val="10B9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5488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• Gather • Summarize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03720" y="3246120"/>
            <a:ext cx="1920300" cy="14289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903720" y="3246120"/>
            <a:ext cx="19203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35240" y="3383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6903720" y="3857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AGENT</a:t>
            </a:r>
            <a:endParaRPr b="1" sz="1100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903720" y="4238625"/>
            <a:ext cx="1920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Flights • Hotels • Compare</a:t>
            </a:r>
            <a:endParaRPr b="0" sz="9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00" y="3333750"/>
            <a:ext cx="2857500" cy="285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-952500"/>
            <a:ext cx="3810000" cy="381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571500" y="28575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AGENTS</a:t>
            </a:r>
            <a:endParaRPr b="1" sz="296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71500" y="762000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Email &amp; Calendar Agents</a:t>
            </a:r>
            <a:endParaRPr b="0" sz="14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6250" y="1238250"/>
            <a:ext cx="4000500" cy="36195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6250" y="1238250"/>
            <a:ext cx="4000500" cy="573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238250" y="1524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Agent</a:t>
            </a:r>
            <a:endParaRPr b="1" sz="2000">
              <a:solidFill>
                <a:srgbClr val="F8717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62000" y="2000250"/>
            <a:ext cx="3429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Gmail API</a:t>
            </a:r>
            <a:endParaRPr b="0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62000" y="2333625"/>
            <a:ext cx="3429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Send, read, reply, delete, and search emails automatically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 unread messages with sender, subject &amp; timestamp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Confirm before mass deletes for safety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 plain text summaries (Telegram-safe, ≤40</a:t>
            </a:r>
            <a:r>
              <a:rPr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00</a:t>
            </a: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 chars)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ISO 8601 timestamps (IST +05:30)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67250" y="1238250"/>
            <a:ext cx="4000500" cy="36195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667250" y="1238250"/>
            <a:ext cx="4000500" cy="573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0" y="1524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5429250" y="1524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 Agent</a:t>
            </a:r>
            <a:endParaRPr b="1" sz="2000">
              <a:solidFill>
                <a:srgbClr val="60A5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953000" y="2000250"/>
            <a:ext cx="3429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Google Calendar API</a:t>
            </a:r>
            <a:endParaRPr b="0" sz="10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2333625"/>
            <a:ext cx="3429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Create, update, and delete calendar events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Check availability and list events by date range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Detect and resolve scheduling conflicts automatically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Parse title, start/end times, attendees, location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All timestamps in ISO 8601 (IST +05:30)</a:t>
            </a:r>
            <a:endParaRPr b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9"/>
          <p:cNvGrpSpPr/>
          <p:nvPr/>
        </p:nvGrpSpPr>
        <p:grpSpPr>
          <a:xfrm>
            <a:off x="-666750" y="-1238250"/>
            <a:ext cx="10953750" cy="7143750"/>
            <a:chOff x="-666750" y="-1238250"/>
            <a:chExt cx="10953750" cy="7143750"/>
          </a:xfrm>
        </p:grpSpPr>
        <p:sp>
          <p:nvSpPr>
            <p:cNvPr id="211" name="Google Shape;211;p9"/>
            <p:cNvSpPr/>
            <p:nvPr/>
          </p:nvSpPr>
          <p:spPr>
            <a:xfrm>
              <a:off x="6858000" y="-1238250"/>
              <a:ext cx="3429000" cy="3429000"/>
            </a:xfrm>
            <a:prstGeom prst="ellipse">
              <a:avLst/>
            </a:prstGeom>
            <a:solidFill>
              <a:srgbClr val="00D4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-666750" y="3619500"/>
              <a:ext cx="2286000" cy="2286000"/>
            </a:xfrm>
            <a:prstGeom prst="ellipse">
              <a:avLst/>
            </a:prstGeom>
            <a:solidFill>
              <a:srgbClr val="10B981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9"/>
          <p:cNvSpPr/>
          <p:nvPr/>
        </p:nvSpPr>
        <p:spPr>
          <a:xfrm>
            <a:off x="571500" y="28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SPECIALIZED AGENTS</a:t>
            </a:r>
            <a:endParaRPr b="1" i="0" sz="3200">
              <a:solidFill>
                <a:srgbClr val="00D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71500" y="80962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&amp; Travel Agents</a:t>
            </a:r>
            <a:endParaRPr b="0" i="0" sz="140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6250" y="1333500"/>
            <a:ext cx="4000500" cy="3429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76250" y="1333500"/>
            <a:ext cx="4000500" cy="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19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1238250" y="1619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Agent</a:t>
            </a:r>
            <a:endParaRPr b="1" i="0" sz="2000">
              <a:solidFill>
                <a:srgbClr val="10B98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62000" y="20478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Google Gemini | Tavily + Wikipedia</a:t>
            </a:r>
            <a:endParaRPr b="0" i="0" sz="95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62000" y="2381250"/>
            <a:ext cx="34290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Wikipedia for structured facts, definitions, static data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Tavily Search for trending topics and recent updates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Combined mode for hybrid queries (background + recency)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Summarizes clearly in 3-6 lines maximum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No URLs or Markdown in output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667250" y="1333500"/>
            <a:ext cx="4000500" cy="3429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667250" y="1333500"/>
            <a:ext cx="40005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1619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429250" y="1619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Agent</a:t>
            </a:r>
            <a:endParaRPr b="1" i="0" sz="2000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953000" y="20478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GPT-4o | Service: Serp API</a:t>
            </a:r>
            <a:endParaRPr b="0" i="0" sz="950">
              <a:solidFill>
                <a:srgbClr val="8B95B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53000" y="2381250"/>
            <a:ext cx="34290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flights by departure, arrival, dates, class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hotels by location, dates, rating, and class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 3-5 top options with pricing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Suggests alternative routes if no results found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Trebuchet MS"/>
              <a:buChar char="●"/>
            </a:pPr>
            <a:r>
              <a:rPr b="0" i="0" lang="en-US" sz="11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Defaults: one-way, 1 adult, economy, 4★+ hotels</a:t>
            </a:r>
            <a:endParaRPr b="0" i="0" sz="1100">
              <a:solidFill>
                <a:srgbClr val="F0F4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1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-457200" y="32004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10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7315200" y="-4572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 &amp; TOOLS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57200" y="1005840"/>
            <a:ext cx="54864" cy="1691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Orchestration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14300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n8n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workflow automation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No-code + code nodes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33756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337560" y="100584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044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402336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02336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GPT-4o &amp; Gemini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52044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LLM backbone for all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agent reasoning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17920" y="100584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217920" y="100584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6940295" y="112014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90372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+ Voice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400800" y="1783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Multi-modal I/O via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webhooks &amp; Whisper/TTS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57200" y="292608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114300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14300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Gmail, GCal, </a:t>
            </a:r>
            <a:r>
              <a:rPr b="1" lang="en-US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OAuth2 APIs for real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service connectivity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33756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337560" y="2926080"/>
            <a:ext cx="54864" cy="1691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044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402336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Tools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02336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Tavily + Wikipedia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Live web search and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knowledge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17920" y="2926080"/>
            <a:ext cx="26517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217920" y="2926080"/>
            <a:ext cx="54864" cy="1691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080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690372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Dev Tools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90372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Docker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400800" y="3703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Containerization and </a:t>
            </a:r>
            <a:r>
              <a:rPr lang="en-US" sz="1000">
                <a:solidFill>
                  <a:schemeClr val="accent3"/>
                </a:solidFill>
                <a:latin typeface="Trebuchet MS"/>
                <a:ea typeface="Trebuchet MS"/>
                <a:cs typeface="Trebuchet MS"/>
                <a:sym typeface="Trebuchet MS"/>
              </a:rPr>
              <a:t>local hosting</a:t>
            </a:r>
            <a:endParaRPr i="0" sz="1000" u="none" cap="none" strike="noStrike">
              <a:solidFill>
                <a:schemeClr val="accent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1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-914400" y="182880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&amp; DATA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914400" y="1078992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91440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554480" y="100584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sends message via Telegram (text, voice, or image)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6012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31520" y="178308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91440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554480" y="17830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Main Routing Agent detects intent and selects sub-agent(s)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6012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914400" y="26334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914400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554480" y="256032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Sub-Agent(s) execute their specialized workflow logic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960120" y="3063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914400" y="34107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914400" y="34107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554480" y="33375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Outputs are merged, simplified, and formatted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60120" y="3840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91440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554480" y="41148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Bot sends clean final message back to user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p1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7498080" y="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2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-9144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COMPOUND ROUTING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task chaining in action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7C3AED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User Query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30352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 Order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1508760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640080" y="1508760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"Send email to HR about leave"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303520" y="1508760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1938528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40080" y="193852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"Schedule meeting tomorrow 3 PM"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303520" y="1938528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Calendar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57200" y="2368296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640080" y="2368296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"Find flights Delhi to Mumbai"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303520" y="2368296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7200" y="2798064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40080" y="2798064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"Research latest AI updates"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303520" y="2798064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57200" y="3227832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40080" y="3227832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"Book flight + add to calendar"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303520" y="3227832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Calendar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57200" y="3657600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40080" y="3657600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"Find hotels &amp; email top options"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303520" y="3657600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4087368"/>
            <a:ext cx="8229600" cy="393192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40080" y="4087368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"Book flight, add calendar, email itinerary"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303520" y="4087368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923C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→ Calendar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57200" y="4517136"/>
            <a:ext cx="8229600" cy="393192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640080" y="4517136"/>
            <a:ext cx="4572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"Research AI news &amp; email summary"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303520" y="4517136"/>
            <a:ext cx="32004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→ Email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3" name="Google Shape;343;p13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7589520" y="-18288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3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9144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KEY LEARNINGS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" y="91440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57200" y="914400"/>
            <a:ext cx="54864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114300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n8n Mastery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1143000" y="13716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Proficiency in visual workflow automation — building complex AI systems 10x faster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754880" y="91440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754880" y="914400"/>
            <a:ext cx="54864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3"/>
          <p:cNvSpPr/>
          <p:nvPr/>
        </p:nvSpPr>
        <p:spPr>
          <a:xfrm>
            <a:off x="544068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Multi-Agent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440680" y="13716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Splitting tasks across specialized LLMs with role-based prompting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57200" y="224028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57200" y="224028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114300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API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43000" y="26974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Hands-on with OAuth2, Gmail, Google Calendar, </a:t>
            </a:r>
            <a:r>
              <a:rPr lang="en-US" sz="1000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Serp API</a:t>
            </a: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, Tavily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754880" y="224028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4754880" y="224028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/>
          <p:nvPr/>
        </p:nvSpPr>
        <p:spPr>
          <a:xfrm>
            <a:off x="544068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Webhook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440680" y="26974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Event-driven design connecting Telegram to n8n backend in real-time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/>
          <p:nvPr/>
        </p:nvSpPr>
        <p:spPr>
          <a:xfrm>
            <a:off x="114300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Engineering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1143000" y="402336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Blending no-code nodes with custom JavaScript/Python for flexibility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754880" y="3566160"/>
            <a:ext cx="4023360" cy="11430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4754880" y="3566160"/>
            <a:ext cx="54864" cy="1143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7760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544068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Multimodal Interfaces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440680" y="402336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accessible interfaces: text, voice, and image input support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1" name="Google Shape;381;p14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7498080" y="292608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2" name="Google Shape;382;p14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-914400" y="27432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SOLUTIONS</a:t>
            </a:r>
            <a:endParaRPr i="0" sz="3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987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4"/>
          <p:cNvSpPr/>
          <p:nvPr/>
        </p:nvSpPr>
        <p:spPr>
          <a:xfrm>
            <a:off x="1051560" y="9144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OAuth2 Authentication with Google APIs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87" name="Google Shape;38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87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/>
          <p:nvPr/>
        </p:nvSpPr>
        <p:spPr>
          <a:xfrm>
            <a:off x="5074920" y="91440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Configured proper credential flow in n8n with refresh tokens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7922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4"/>
          <p:cNvSpPr/>
          <p:nvPr/>
        </p:nvSpPr>
        <p:spPr>
          <a:xfrm>
            <a:off x="1051560" y="1719072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Agent-to-Agent Communication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92" name="Google Shape;3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7922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/>
          <p:nvPr/>
        </p:nvSpPr>
        <p:spPr>
          <a:xfrm>
            <a:off x="5074920" y="171907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Used n8n sub-workflow triggers for clean data passing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5968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1051560" y="2523744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Handling Compound Multi-Agent Queries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397" name="Google Shape;3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259689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4"/>
          <p:cNvSpPr/>
          <p:nvPr/>
        </p:nvSpPr>
        <p:spPr>
          <a:xfrm>
            <a:off x="5074920" y="2523744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Sequential chaining with logical routing order in Master Agent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508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401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4"/>
          <p:cNvSpPr/>
          <p:nvPr/>
        </p:nvSpPr>
        <p:spPr>
          <a:xfrm>
            <a:off x="1051560" y="3328416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Telegram Message Formatting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402" name="Google Shape;4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3401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5074920" y="3328416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Sanitized all outputs to plain text (no Markdown/HTML), ≤40</a:t>
            </a:r>
            <a:r>
              <a:rPr lang="en-US" sz="1000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00</a:t>
            </a:r>
            <a:r>
              <a:rPr i="0" lang="en-US" sz="1000" u="none" cap="none" strike="noStrike">
                <a:solidFill>
                  <a:srgbClr val="F0F4FF"/>
                </a:solidFill>
                <a:latin typeface="Trebuchet MS"/>
                <a:ea typeface="Trebuchet MS"/>
                <a:cs typeface="Trebuchet MS"/>
                <a:sym typeface="Trebuchet MS"/>
              </a:rPr>
              <a:t> chars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074920" y="413308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0" name="Google Shape;410;p15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6400800" y="2743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p15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-274320" y="-1828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USE CASES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57200" y="91440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457200" y="914400"/>
            <a:ext cx="4023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1097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105156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Corporate Executive Assistant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64008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Auto-manage emails, schedule meetings, and research market trends — all via a single Telegram command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754880" y="91440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4754880" y="914400"/>
            <a:ext cx="4023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1097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5"/>
          <p:cNvSpPr/>
          <p:nvPr/>
        </p:nvSpPr>
        <p:spPr>
          <a:xfrm>
            <a:off x="5349240" y="1051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Travel Coordinator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93776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flights &amp; hotels, add to calendar, and email itinerary to stakeholders in one query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Productivity 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40080" y="347472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topics, schedule study sessions, email summaries to study groups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0" name="Google Shape;4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/>
          <p:nvPr/>
        </p:nvSpPr>
        <p:spPr>
          <a:xfrm>
            <a:off x="5349240" y="2971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Startup 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4937760" y="347472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 internal communication, scheduling, and competitive research with minimal overhead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8" name="Google Shape;438;p1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315200" y="0"/>
            <a:ext cx="201168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16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-914400" y="18288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6"/>
          <p:cNvSpPr/>
          <p:nvPr/>
        </p:nvSpPr>
        <p:spPr>
          <a:xfrm>
            <a:off x="548640" y="182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Where SwarmAI goes next</a:t>
            </a:r>
            <a:endParaRPr i="0" sz="13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6"/>
          <p:cNvSpPr/>
          <p:nvPr/>
        </p:nvSpPr>
        <p:spPr>
          <a:xfrm>
            <a:off x="1051560" y="1124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WhatsApp &amp; Slack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051560" y="1508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Expand beyond Telegram to enterprise channels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6"/>
          <p:cNvSpPr/>
          <p:nvPr/>
        </p:nvSpPr>
        <p:spPr>
          <a:xfrm>
            <a:off x="5349240" y="1124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Persistent Memory &amp;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349240" y="1508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Long-term conversation memory across sessions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6"/>
          <p:cNvSpPr/>
          <p:nvPr/>
        </p:nvSpPr>
        <p:spPr>
          <a:xfrm>
            <a:off x="105156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Payment &amp; Booking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105156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Add real booking and payment processing capabilities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534924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Multi-Language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349240" y="274320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Hindi, regional languages for wider accessibility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657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6"/>
          <p:cNvSpPr/>
          <p:nvPr/>
        </p:nvSpPr>
        <p:spPr>
          <a:xfrm>
            <a:off x="1051560" y="35935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Fine-Tuned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105156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Domain-specific models for specialized tasks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141928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3657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6"/>
          <p:cNvSpPr/>
          <p:nvPr/>
        </p:nvSpPr>
        <p:spPr>
          <a:xfrm>
            <a:off x="5349240" y="35935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Analytics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534924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8B95B0"/>
                </a:solidFill>
                <a:latin typeface="Trebuchet MS"/>
                <a:ea typeface="Trebuchet MS"/>
                <a:cs typeface="Trebuchet MS"/>
                <a:sym typeface="Trebuchet MS"/>
              </a:rPr>
              <a:t>Track usage, performance, and agent efficiency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7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7" name="Google Shape;477;p17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457200" y="-27432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8" name="Google Shape;478;p17"/>
          <p:cNvPicPr preferRelativeResize="0"/>
          <p:nvPr/>
        </p:nvPicPr>
        <p:blipFill rotWithShape="1">
          <a:blip r:embed="rId4">
            <a:alphaModFix amt="65000"/>
          </a:blip>
          <a:srcRect b="0" l="0" r="0" t="0"/>
          <a:stretch/>
        </p:blipFill>
        <p:spPr>
          <a:xfrm>
            <a:off x="7315200" y="274320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9" name="Google Shape;479;p17"/>
          <p:cNvPicPr preferRelativeResize="0"/>
          <p:nvPr/>
        </p:nvPicPr>
        <p:blipFill rotWithShape="1">
          <a:blip r:embed="rId5">
            <a:alphaModFix amt="55000"/>
          </a:blip>
          <a:srcRect b="0" l="0" r="0" t="0"/>
          <a:stretch/>
        </p:blipFill>
        <p:spPr>
          <a:xfrm>
            <a:off x="7772400" y="-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0" name="Google Shape;480;p17"/>
          <p:cNvPicPr preferRelativeResize="0"/>
          <p:nvPr/>
        </p:nvPicPr>
        <p:blipFill rotWithShape="1">
          <a:blip r:embed="rId6">
            <a:alphaModFix amt="25000"/>
          </a:blip>
          <a:srcRect b="0" l="0" r="0" t="0"/>
          <a:stretch/>
        </p:blipFill>
        <p:spPr>
          <a:xfrm>
            <a:off x="1828800" y="457200"/>
            <a:ext cx="54864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1" name="Google Shape;481;p17"/>
          <p:cNvPicPr preferRelativeResize="0"/>
          <p:nvPr/>
        </p:nvPicPr>
        <p:blipFill rotWithShape="1">
          <a:blip r:embed="rId7">
            <a:alphaModFix amt="25000"/>
          </a:blip>
          <a:srcRect b="0" l="0" r="0" t="0"/>
          <a:stretch/>
        </p:blipFill>
        <p:spPr>
          <a:xfrm>
            <a:off x="3657600" y="914400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2" name="Google Shape;48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6052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Feedback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7"/>
          <p:cNvCxnSpPr/>
          <p:nvPr/>
        </p:nvCxnSpPr>
        <p:spPr>
          <a:xfrm>
            <a:off x="2743200" y="292608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6" name="Google Shape;486;p17"/>
          <p:cNvSpPr/>
          <p:nvPr/>
        </p:nvSpPr>
        <p:spPr>
          <a:xfrm>
            <a:off x="914400" y="3108960"/>
            <a:ext cx="7315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Team SwarmAI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Lokesh (12216917) | Manit Chutani (12215575) | Nandu Penchala (12203167)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B.Tech CSE (Data Science &amp; Data Engineering)  |  Lovely Professional University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Course: CSE461 — Internship Project  |  Instructor: Ma</a:t>
            </a:r>
            <a:r>
              <a:rPr lang="en-US" sz="1000">
                <a:solidFill>
                  <a:srgbClr val="8B95B0"/>
                </a:solidFill>
                <a:latin typeface="Calibri"/>
                <a:ea typeface="Calibri"/>
                <a:cs typeface="Calibri"/>
                <a:sym typeface="Calibri"/>
              </a:rPr>
              <a:t>dhav Dubey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